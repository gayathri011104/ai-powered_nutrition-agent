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9" roundtripDataSignature="AMtx7mg+OZJhjyGmOQkvDPCf03DnjRrNY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0DFE7AF-A4AD-41E4-BEC9-BE04031DA577}">
  <a:tblStyle styleId="{30DFE7AF-A4AD-41E4-BEC9-BE04031DA577}"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customschemas.google.com/relationships/presentationmetadata" Target="metadata"/><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2" name="Google Shape;92;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8" name="Google Shape;98;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4" name="Google Shape;104;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0" name="Google Shape;110;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9" name="Google Shape;119;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5" name="Google Shape;125;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1" name="Google Shape;131;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0" name="Google Shape;140;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2" name="Google Shape;162;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 name="Shape 11"/>
        <p:cNvGrpSpPr/>
        <p:nvPr/>
      </p:nvGrpSpPr>
      <p:grpSpPr>
        <a:xfrm>
          <a:off x="0" y="0"/>
          <a:ext cx="0" cy="0"/>
          <a:chOff x="0" y="0"/>
          <a:chExt cx="0" cy="0"/>
        </a:xfrm>
      </p:grpSpPr>
      <p:sp>
        <p:nvSpPr>
          <p:cNvPr id="12" name="Google Shape;12;p2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4" name="Google Shape;14;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3" name="Shape 23"/>
        <p:cNvGrpSpPr/>
        <p:nvPr/>
      </p:nvGrpSpPr>
      <p:grpSpPr>
        <a:xfrm>
          <a:off x="0" y="0"/>
          <a:ext cx="0" cy="0"/>
          <a:chOff x="0" y="0"/>
          <a:chExt cx="0" cy="0"/>
        </a:xfrm>
      </p:grpSpPr>
      <p:sp>
        <p:nvSpPr>
          <p:cNvPr id="24" name="Google Shape;24;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p2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0" name="Shape 30"/>
        <p:cNvGrpSpPr/>
        <p:nvPr/>
      </p:nvGrpSpPr>
      <p:grpSpPr>
        <a:xfrm>
          <a:off x="0" y="0"/>
          <a:ext cx="0" cy="0"/>
          <a:chOff x="0" y="0"/>
          <a:chExt cx="0" cy="0"/>
        </a:xfrm>
      </p:grpSpPr>
      <p:sp>
        <p:nvSpPr>
          <p:cNvPr id="31" name="Google Shape;31;p2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3" name="Google Shape;33;p2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2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5" name="Google Shape;35;p2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 name="Shape 39"/>
        <p:cNvGrpSpPr/>
        <p:nvPr/>
      </p:nvGrpSpPr>
      <p:grpSpPr>
        <a:xfrm>
          <a:off x="0" y="0"/>
          <a:ext cx="0" cy="0"/>
          <a:chOff x="0" y="0"/>
          <a:chExt cx="0" cy="0"/>
        </a:xfrm>
      </p:grpSpPr>
      <p:sp>
        <p:nvSpPr>
          <p:cNvPr id="40" name="Google Shape;40;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4" name="Shape 44"/>
        <p:cNvGrpSpPr/>
        <p:nvPr/>
      </p:nvGrpSpPr>
      <p:grpSpPr>
        <a:xfrm>
          <a:off x="0" y="0"/>
          <a:ext cx="0" cy="0"/>
          <a:chOff x="0" y="0"/>
          <a:chExt cx="0" cy="0"/>
        </a:xfrm>
      </p:grpSpPr>
      <p:sp>
        <p:nvSpPr>
          <p:cNvPr id="45" name="Google Shape;45;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8" name="Shape 48"/>
        <p:cNvGrpSpPr/>
        <p:nvPr/>
      </p:nvGrpSpPr>
      <p:grpSpPr>
        <a:xfrm>
          <a:off x="0" y="0"/>
          <a:ext cx="0" cy="0"/>
          <a:chOff x="0" y="0"/>
          <a:chExt cx="0" cy="0"/>
        </a:xfrm>
      </p:grpSpPr>
      <p:sp>
        <p:nvSpPr>
          <p:cNvPr id="49" name="Google Shape;49;p2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2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1" name="Google Shape;51;p2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2" name="Google Shape;52;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5" name="Shape 55"/>
        <p:cNvGrpSpPr/>
        <p:nvPr/>
      </p:nvGrpSpPr>
      <p:grpSpPr>
        <a:xfrm>
          <a:off x="0" y="0"/>
          <a:ext cx="0" cy="0"/>
          <a:chOff x="0" y="0"/>
          <a:chExt cx="0" cy="0"/>
        </a:xfrm>
      </p:grpSpPr>
      <p:sp>
        <p:nvSpPr>
          <p:cNvPr id="56" name="Google Shape;56;p3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0"/>
          <p:cNvSpPr/>
          <p:nvPr>
            <p:ph idx="2" type="pic"/>
          </p:nvPr>
        </p:nvSpPr>
        <p:spPr>
          <a:xfrm>
            <a:off x="5183188" y="987425"/>
            <a:ext cx="6172200" cy="4873625"/>
          </a:xfrm>
          <a:prstGeom prst="rect">
            <a:avLst/>
          </a:prstGeom>
          <a:noFill/>
          <a:ln>
            <a:noFill/>
          </a:ln>
        </p:spPr>
      </p:sp>
      <p:sp>
        <p:nvSpPr>
          <p:cNvPr id="58" name="Google Shape;58;p3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9" name="Google Shape;59;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2" name="Shape 62"/>
        <p:cNvGrpSpPr/>
        <p:nvPr/>
      </p:nvGrpSpPr>
      <p:grpSpPr>
        <a:xfrm>
          <a:off x="0" y="0"/>
          <a:ext cx="0" cy="0"/>
          <a:chOff x="0" y="0"/>
          <a:chExt cx="0" cy="0"/>
        </a:xfrm>
      </p:grpSpPr>
      <p:sp>
        <p:nvSpPr>
          <p:cNvPr id="63" name="Google Shape;63;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 name="Google Shape;65;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8" name="Shape 68"/>
        <p:cNvGrpSpPr/>
        <p:nvPr/>
      </p:nvGrpSpPr>
      <p:grpSpPr>
        <a:xfrm>
          <a:off x="0" y="0"/>
          <a:ext cx="0" cy="0"/>
          <a:chOff x="0" y="0"/>
          <a:chExt cx="0" cy="0"/>
        </a:xfrm>
      </p:grpSpPr>
      <p:sp>
        <p:nvSpPr>
          <p:cNvPr id="69" name="Google Shape;69;p3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1.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0.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8.png"/><Relationship Id="rId6"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hyperlink" Target="https://github.com/Gayathri011104/AI-powered_nutrition-agent.git"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33"/>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SzPts val="6000"/>
              <a:buNone/>
            </a:pPr>
            <a:r>
              <a:rPr b="1" lang="en-US" sz="6600"/>
              <a:t>IBM University Engagement Project Submission</a:t>
            </a:r>
            <a:br>
              <a:rPr b="1" lang="en-US"/>
            </a:br>
            <a:endParaRPr/>
          </a:p>
        </p:txBody>
      </p:sp>
      <p:sp>
        <p:nvSpPr>
          <p:cNvPr id="79" name="Google Shape;79;p33"/>
          <p:cNvSpPr txBox="1"/>
          <p:nvPr>
            <p:ph idx="1" type="body"/>
          </p:nvPr>
        </p:nvSpPr>
        <p:spPr>
          <a:xfrm>
            <a:off x="1014730" y="3903663"/>
            <a:ext cx="10515600" cy="1500187"/>
          </a:xfrm>
          <a:prstGeom prst="rect">
            <a:avLst/>
          </a:prstGeom>
          <a:noFill/>
          <a:ln>
            <a:noFill/>
          </a:ln>
        </p:spPr>
        <p:txBody>
          <a:bodyPr anchorCtr="0" anchor="t" bIns="45700" lIns="91425" spcFirstLastPara="1" rIns="91425" wrap="square" tIns="45700">
            <a:normAutofit/>
          </a:bodyPr>
          <a:lstStyle/>
          <a:p>
            <a:pPr indent="-228600" lvl="0" marL="457200" rtl="0" algn="ctr">
              <a:lnSpc>
                <a:spcPct val="90000"/>
              </a:lnSpc>
              <a:spcBef>
                <a:spcPts val="1000"/>
              </a:spcBef>
              <a:spcAft>
                <a:spcPts val="0"/>
              </a:spcAft>
              <a:buSzPts val="2400"/>
              <a:buNone/>
            </a:pPr>
            <a:r>
              <a:rPr b="1" i="1" lang="en-US"/>
              <a:t>“Exploring the Power of Agentic AI with IBM Granite and LangFlow”</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chemeClr val="dk1"/>
              </a:buClr>
              <a:buSzPts val="1500"/>
              <a:buFont typeface="Calibri"/>
              <a:buNone/>
            </a:pPr>
            <a:r>
              <a:t/>
            </a:r>
            <a:endParaRPr b="0" i="0" sz="1500" u="none" cap="none" strike="noStrik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2060"/>
              </a:buClr>
              <a:buSzPts val="3200"/>
              <a:buFont typeface="Times New Roman"/>
              <a:buNone/>
            </a:pPr>
            <a:r>
              <a:t/>
            </a:r>
            <a:endParaRPr b="1" i="0" sz="3200" u="none" cap="none" strike="noStrike">
              <a:solidFill>
                <a:srgbClr val="002060"/>
              </a:solidFill>
              <a:latin typeface="Times New Roman"/>
              <a:ea typeface="Times New Roman"/>
              <a:cs typeface="Times New Roman"/>
              <a:sym typeface="Times New Roman"/>
            </a:endParaRPr>
          </a:p>
        </p:txBody>
      </p:sp>
      <p:graphicFrame>
        <p:nvGraphicFramePr>
          <p:cNvPr id="86" name="Google Shape;86;p2"/>
          <p:cNvGraphicFramePr/>
          <p:nvPr/>
        </p:nvGraphicFramePr>
        <p:xfrm>
          <a:off x="1299257" y="2600315"/>
          <a:ext cx="3000000" cy="3000000"/>
        </p:xfrm>
        <a:graphic>
          <a:graphicData uri="http://schemas.openxmlformats.org/drawingml/2006/table">
            <a:tbl>
              <a:tblPr>
                <a:noFill/>
                <a:tableStyleId>{30DFE7AF-A4AD-41E4-BEC9-BE04031DA577}</a:tableStyleId>
              </a:tblPr>
              <a:tblGrid>
                <a:gridCol w="2064875"/>
                <a:gridCol w="2443375"/>
                <a:gridCol w="2443375"/>
                <a:gridCol w="2443375"/>
              </a:tblGrid>
              <a:tr h="97322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Student Name</a:t>
                      </a:r>
                      <a:endParaRPr sz="1800" u="none" cap="none" strike="noStrike"/>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Recent Passport Photo</a:t>
                      </a:r>
                      <a:endParaRPr sz="1800" u="none" cap="none" strike="noStrike"/>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Email ID </a:t>
                      </a:r>
                      <a:endParaRPr b="0" i="0" sz="18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chemeClr val="lt1"/>
                        </a:buClr>
                        <a:buSzPts val="1800"/>
                        <a:buFont typeface="Calibri"/>
                        <a:buNone/>
                      </a:pPr>
                      <a:r>
                        <a:rPr b="0" i="0" lang="en-US" sz="1800" u="none" cap="none" strike="noStrike">
                          <a:solidFill>
                            <a:srgbClr val="000000"/>
                          </a:solidFill>
                          <a:latin typeface="Arial"/>
                          <a:ea typeface="Arial"/>
                          <a:cs typeface="Arial"/>
                          <a:sym typeface="Arial"/>
                        </a:rPr>
                        <a:t>Mobile number</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lt1"/>
                        </a:buClr>
                        <a:buSzPts val="1800"/>
                        <a:buFont typeface="Calibri"/>
                        <a:buNone/>
                      </a:pPr>
                      <a:r>
                        <a:rPr b="0" i="0" lang="en-US" sz="1800" u="none" cap="none" strike="noStrike">
                          <a:solidFill>
                            <a:srgbClr val="000000"/>
                          </a:solidFill>
                          <a:latin typeface="Arial"/>
                          <a:ea typeface="Arial"/>
                          <a:cs typeface="Arial"/>
                          <a:sym typeface="Arial"/>
                        </a:rPr>
                        <a:t>[WhatsApp] </a:t>
                      </a:r>
                      <a:endParaRPr b="0" i="0" sz="18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r>
              <a:tr h="1193900">
                <a:tc>
                  <a:txBody>
                    <a:bodyPr/>
                    <a:lstStyle/>
                    <a:p>
                      <a:pPr indent="0" lvl="0" marL="0" marR="0" rtl="0" algn="l">
                        <a:lnSpc>
                          <a:spcPct val="100000"/>
                        </a:lnSpc>
                        <a:spcBef>
                          <a:spcPts val="0"/>
                        </a:spcBef>
                        <a:spcAft>
                          <a:spcPts val="0"/>
                        </a:spcAft>
                        <a:buClr>
                          <a:srgbClr val="000000"/>
                        </a:buClr>
                        <a:buSzPts val="1400"/>
                        <a:buFont typeface="Arial"/>
                        <a:buNone/>
                      </a:pPr>
                      <a:r>
                        <a:rPr lang="en-US" sz="2000"/>
                        <a:t>Gayathri K</a:t>
                      </a:r>
                      <a:endParaRPr sz="20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2000"/>
                        <a:t>kgayathri0111@gmail.com</a:t>
                      </a:r>
                      <a:endParaRPr sz="20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2000"/>
                        <a:t>7907524125</a:t>
                      </a:r>
                      <a:endParaRPr sz="20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r>
            </a:tbl>
          </a:graphicData>
        </a:graphic>
      </p:graphicFrame>
      <p:pic>
        <p:nvPicPr>
          <p:cNvPr id="87" name="Google Shape;87;p2" title="1000066903.jpg"/>
          <p:cNvPicPr preferRelativeResize="0"/>
          <p:nvPr/>
        </p:nvPicPr>
        <p:blipFill rotWithShape="1">
          <a:blip r:embed="rId3">
            <a:alphaModFix/>
          </a:blip>
          <a:srcRect b="0" l="0" r="0" t="0"/>
          <a:stretch/>
        </p:blipFill>
        <p:spPr>
          <a:xfrm>
            <a:off x="4053025" y="3648850"/>
            <a:ext cx="762500" cy="980875"/>
          </a:xfrm>
          <a:prstGeom prst="rect">
            <a:avLst/>
          </a:prstGeom>
          <a:noFill/>
          <a:ln>
            <a:noFill/>
          </a:ln>
        </p:spPr>
      </p:pic>
      <p:sp>
        <p:nvSpPr>
          <p:cNvPr id="88" name="Google Shape;88;p2"/>
          <p:cNvSpPr txBox="1"/>
          <p:nvPr/>
        </p:nvSpPr>
        <p:spPr>
          <a:xfrm>
            <a:off x="1206164" y="1460724"/>
            <a:ext cx="102804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000000"/>
                </a:solidFill>
                <a:latin typeface="Arial"/>
                <a:ea typeface="Arial"/>
                <a:cs typeface="Arial"/>
                <a:sym typeface="Arial"/>
              </a:rPr>
              <a:t>Domain of  Project – </a:t>
            </a:r>
            <a:r>
              <a:rPr b="1" lang="en-US" sz="2800"/>
              <a:t>Healthcare</a:t>
            </a:r>
            <a:endParaRPr b="1" i="0" sz="2800" u="none" cap="none" strike="noStrike">
              <a:solidFill>
                <a:srgbClr val="000000"/>
              </a:solidFill>
              <a:latin typeface="Arial"/>
              <a:ea typeface="Arial"/>
              <a:cs typeface="Arial"/>
              <a:sym typeface="Arial"/>
            </a:endParaRPr>
          </a:p>
        </p:txBody>
      </p:sp>
      <p:sp>
        <p:nvSpPr>
          <p:cNvPr id="89" name="Google Shape;89;p2"/>
          <p:cNvSpPr txBox="1"/>
          <p:nvPr/>
        </p:nvSpPr>
        <p:spPr>
          <a:xfrm>
            <a:off x="1206162" y="551965"/>
            <a:ext cx="95811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000000"/>
                </a:solidFill>
                <a:latin typeface="Arial"/>
                <a:ea typeface="Arial"/>
                <a:cs typeface="Arial"/>
                <a:sym typeface="Arial"/>
              </a:rPr>
              <a:t>Project Title –</a:t>
            </a:r>
            <a:r>
              <a:rPr b="1" lang="en-US" sz="2800"/>
              <a:t> Nutrition Agent</a:t>
            </a:r>
            <a:endParaRPr b="1" i="0" sz="28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34"/>
          <p:cNvSpPr txBox="1"/>
          <p:nvPr/>
        </p:nvSpPr>
        <p:spPr>
          <a:xfrm>
            <a:off x="576072" y="1234440"/>
            <a:ext cx="10607040" cy="504753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Problem Statement : Nutrition Agent</a:t>
            </a:r>
            <a:r>
              <a:rPr b="0" i="0" lang="en-US" sz="14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The Challenge</a:t>
            </a:r>
            <a:r>
              <a:rPr b="0" i="0" lang="en-US" sz="14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Good nutrition is the foundation of health, but individuals often struggle with </a:t>
            </a:r>
            <a:r>
              <a:rPr b="1" i="0" lang="en-US" sz="1400" u="none" cap="none" strike="noStrike">
                <a:solidFill>
                  <a:srgbClr val="000000"/>
                </a:solidFill>
                <a:latin typeface="Arial"/>
                <a:ea typeface="Arial"/>
                <a:cs typeface="Arial"/>
                <a:sym typeface="Arial"/>
              </a:rPr>
              <a:t>diet planning, portion control, and tracking nutritional intake</a:t>
            </a:r>
            <a:r>
              <a:rPr b="0" i="0" lang="en-US" sz="1400" u="none" cap="none" strike="noStrike">
                <a:solidFill>
                  <a:srgbClr val="000000"/>
                </a:solidFill>
                <a:latin typeface="Arial"/>
                <a:ea typeface="Arial"/>
                <a:cs typeface="Arial"/>
                <a:sym typeface="Arial"/>
              </a:rPr>
              <a:t>. Information about healthy diets, disease-specific nutrition, and food composition is scattered across unreliable sources. Without </a:t>
            </a:r>
            <a:r>
              <a:rPr b="1" i="0" lang="en-US" sz="1400" u="none" cap="none" strike="noStrike">
                <a:solidFill>
                  <a:srgbClr val="000000"/>
                </a:solidFill>
                <a:latin typeface="Arial"/>
                <a:ea typeface="Arial"/>
                <a:cs typeface="Arial"/>
                <a:sym typeface="Arial"/>
              </a:rPr>
              <a:t>personalized, real-time guidance</a:t>
            </a:r>
            <a:r>
              <a:rPr b="0" i="0" lang="en-US" sz="1400" u="none" cap="none" strike="noStrike">
                <a:solidFill>
                  <a:srgbClr val="000000"/>
                </a:solidFill>
                <a:latin typeface="Arial"/>
                <a:ea typeface="Arial"/>
                <a:cs typeface="Arial"/>
                <a:sym typeface="Arial"/>
              </a:rPr>
              <a:t>, many fail to maintain balanced diets or make informed food choices. </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The Objective</a:t>
            </a:r>
            <a:r>
              <a:rPr b="0" i="0" lang="en-US" sz="14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Build an </a:t>
            </a:r>
            <a:r>
              <a:rPr b="1" i="0" lang="en-US" sz="1400" u="none" cap="none" strike="noStrike">
                <a:solidFill>
                  <a:srgbClr val="000000"/>
                </a:solidFill>
                <a:latin typeface="Arial"/>
                <a:ea typeface="Arial"/>
                <a:cs typeface="Arial"/>
                <a:sym typeface="Arial"/>
              </a:rPr>
              <a:t>AI-powered Nutrition Agent</a:t>
            </a:r>
            <a:r>
              <a:rPr b="0" i="0" lang="en-US" sz="1400" u="none" cap="none" strike="noStrike">
                <a:solidFill>
                  <a:srgbClr val="000000"/>
                </a:solidFill>
                <a:latin typeface="Arial"/>
                <a:ea typeface="Arial"/>
                <a:cs typeface="Arial"/>
                <a:sym typeface="Arial"/>
              </a:rPr>
              <a:t> that delivers </a:t>
            </a:r>
            <a:r>
              <a:rPr b="1" i="0" lang="en-US" sz="1400" u="none" cap="none" strike="noStrike">
                <a:solidFill>
                  <a:srgbClr val="000000"/>
                </a:solidFill>
                <a:latin typeface="Arial"/>
                <a:ea typeface="Arial"/>
                <a:cs typeface="Arial"/>
                <a:sym typeface="Arial"/>
              </a:rPr>
              <a:t>personalized dietary insights and guidance</a:t>
            </a:r>
            <a:r>
              <a:rPr b="0" i="0" lang="en-US" sz="1400" u="none" cap="none" strike="noStrike">
                <a:solidFill>
                  <a:srgbClr val="000000"/>
                </a:solidFill>
                <a:latin typeface="Arial"/>
                <a:ea typeface="Arial"/>
                <a:cs typeface="Arial"/>
                <a:sym typeface="Arial"/>
              </a:rPr>
              <a:t> for individuals, families, and health professionals. The solution should: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Personalized Diet Plans</a:t>
            </a:r>
            <a:r>
              <a:rPr b="0" i="0" lang="en-US" sz="1400" u="none" cap="none" strike="noStrike">
                <a:solidFill>
                  <a:srgbClr val="000000"/>
                </a:solidFill>
                <a:latin typeface="Arial"/>
                <a:ea typeface="Arial"/>
                <a:cs typeface="Arial"/>
                <a:sym typeface="Arial"/>
              </a:rPr>
              <a:t> – Recommend meals based on age, health conditions, allergies, cultural preferences, and fitness goals.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Food Data RAG Retrieval</a:t>
            </a:r>
            <a:r>
              <a:rPr b="0" i="0" lang="en-US" sz="1400" u="none" cap="none" strike="noStrike">
                <a:solidFill>
                  <a:srgbClr val="000000"/>
                </a:solidFill>
                <a:latin typeface="Arial"/>
                <a:ea typeface="Arial"/>
                <a:cs typeface="Arial"/>
                <a:sym typeface="Arial"/>
              </a:rPr>
              <a:t> – Fetch and summarize nutritional values (calories, macros, vitamins) from reliable sources.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Diet Tracking &amp; Feedback</a:t>
            </a:r>
            <a:r>
              <a:rPr b="0" i="0" lang="en-US" sz="1400" u="none" cap="none" strike="noStrike">
                <a:solidFill>
                  <a:srgbClr val="000000"/>
                </a:solidFill>
                <a:latin typeface="Arial"/>
                <a:ea typeface="Arial"/>
                <a:cs typeface="Arial"/>
                <a:sym typeface="Arial"/>
              </a:rPr>
              <a:t> – Allow users to log meals via text, images, or voice, and provide instant nutritional analysis.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Preventive Health Focus</a:t>
            </a:r>
            <a:r>
              <a:rPr b="0" i="0" lang="en-US" sz="1400" u="none" cap="none" strike="noStrike">
                <a:solidFill>
                  <a:srgbClr val="000000"/>
                </a:solidFill>
                <a:latin typeface="Arial"/>
                <a:ea typeface="Arial"/>
                <a:cs typeface="Arial"/>
                <a:sym typeface="Arial"/>
              </a:rPr>
              <a:t> – Suggest diets for chronic disease management (e.g., diabetes-friendly or heart-healthy plans).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Multi-Agent System</a:t>
            </a:r>
            <a:r>
              <a:rPr b="0" i="0" lang="en-US" sz="1400" u="none" cap="none" strike="noStrike">
                <a:solidFill>
                  <a:srgbClr val="000000"/>
                </a:solidFill>
                <a:latin typeface="Arial"/>
                <a:ea typeface="Arial"/>
                <a:cs typeface="Arial"/>
                <a:sym typeface="Arial"/>
              </a:rPr>
              <a:t> –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Nutrition Knowledge Agent</a:t>
            </a:r>
            <a:r>
              <a:rPr b="0" i="0" lang="en-US" sz="1400" u="none" cap="none" strike="noStrike">
                <a:solidFill>
                  <a:srgbClr val="000000"/>
                </a:solidFill>
                <a:latin typeface="Arial"/>
                <a:ea typeface="Arial"/>
                <a:cs typeface="Arial"/>
                <a:sym typeface="Arial"/>
              </a:rPr>
              <a:t> (fetches nutritional data)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Diet Recommendation Agent</a:t>
            </a:r>
            <a:r>
              <a:rPr b="0" i="0" lang="en-US" sz="1400" u="none" cap="none" strike="noStrike">
                <a:solidFill>
                  <a:srgbClr val="000000"/>
                </a:solidFill>
                <a:latin typeface="Arial"/>
                <a:ea typeface="Arial"/>
                <a:cs typeface="Arial"/>
                <a:sym typeface="Arial"/>
              </a:rPr>
              <a:t> (personalized meal plans)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Health Advisory Agent</a:t>
            </a:r>
            <a:r>
              <a:rPr b="0" i="0" lang="en-US" sz="1400" u="none" cap="none" strike="noStrike">
                <a:solidFill>
                  <a:srgbClr val="000000"/>
                </a:solidFill>
                <a:latin typeface="Arial"/>
                <a:ea typeface="Arial"/>
                <a:cs typeface="Arial"/>
                <a:sym typeface="Arial"/>
              </a:rPr>
              <a:t> (preventive health suggestions)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Food Log &amp; Feedback Agent</a:t>
            </a:r>
            <a:r>
              <a:rPr b="0" i="0" lang="en-US" sz="1400" u="none" cap="none" strike="noStrike">
                <a:solidFill>
                  <a:srgbClr val="000000"/>
                </a:solidFill>
                <a:latin typeface="Arial"/>
                <a:ea typeface="Arial"/>
                <a:cs typeface="Arial"/>
                <a:sym typeface="Arial"/>
              </a:rPr>
              <a:t> (meal tracking + analysis)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Visualization Dashboard</a:t>
            </a:r>
            <a:r>
              <a:rPr b="0" i="0" lang="en-US" sz="1400" u="none" cap="none" strike="noStrike">
                <a:solidFill>
                  <a:srgbClr val="000000"/>
                </a:solidFill>
                <a:latin typeface="Arial"/>
                <a:ea typeface="Arial"/>
                <a:cs typeface="Arial"/>
                <a:sym typeface="Arial"/>
              </a:rPr>
              <a:t> – Show daily/weekly nutrient intake, deficiencies, and progress toward health goals. </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5" name="Google Shape;95;p34"/>
          <p:cNvSpPr txBox="1"/>
          <p:nvPr/>
        </p:nvSpPr>
        <p:spPr>
          <a:xfrm>
            <a:off x="576072" y="704088"/>
            <a:ext cx="721461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Problem Statement -</a:t>
            </a:r>
            <a:endParaRPr b="1" i="0" sz="2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35"/>
          <p:cNvSpPr txBox="1"/>
          <p:nvPr/>
        </p:nvSpPr>
        <p:spPr>
          <a:xfrm>
            <a:off x="576072" y="1234440"/>
            <a:ext cx="10607100" cy="4833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Proposed Solution: AI-Powered Nutrition Agent</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The proposed solution is a </a:t>
            </a:r>
            <a:r>
              <a:rPr b="1" i="0" lang="en-US" sz="1400" u="none" cap="none" strike="noStrike">
                <a:solidFill>
                  <a:srgbClr val="000000"/>
                </a:solidFill>
                <a:latin typeface="Arial"/>
                <a:ea typeface="Arial"/>
                <a:cs typeface="Arial"/>
                <a:sym typeface="Arial"/>
              </a:rPr>
              <a:t>multi-agent AI-powered Nutrition Agent</a:t>
            </a:r>
            <a:r>
              <a:rPr b="0" i="0" lang="en-US" sz="1400" u="none" cap="none" strike="noStrike">
                <a:solidFill>
                  <a:srgbClr val="000000"/>
                </a:solidFill>
                <a:latin typeface="Arial"/>
                <a:ea typeface="Arial"/>
                <a:cs typeface="Arial"/>
                <a:sym typeface="Arial"/>
              </a:rPr>
              <a:t> built using </a:t>
            </a:r>
            <a:r>
              <a:rPr b="1" i="0" lang="en-US" sz="1400" u="none" cap="none" strike="noStrike">
                <a:solidFill>
                  <a:srgbClr val="000000"/>
                </a:solidFill>
                <a:latin typeface="Arial"/>
                <a:ea typeface="Arial"/>
                <a:cs typeface="Arial"/>
                <a:sym typeface="Arial"/>
              </a:rPr>
              <a:t>IBM watsonx.ai, and Granite Models</a:t>
            </a:r>
            <a:r>
              <a:rPr b="0" i="0" lang="en-US" sz="1400" u="none" cap="none" strike="noStrike">
                <a:solidFill>
                  <a:srgbClr val="000000"/>
                </a:solidFill>
                <a:latin typeface="Arial"/>
                <a:ea typeface="Arial"/>
                <a:cs typeface="Arial"/>
                <a:sym typeface="Arial"/>
              </a:rPr>
              <a:t> to provide personalized, real-time dietary guidance. The system addresses challenges in diet planning, nutrition tracking, and preventive healthcare through an intelligent, modular architecture.</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At its core, the solution uses a </a:t>
            </a:r>
            <a:r>
              <a:rPr b="1" i="0" lang="en-US" sz="1400" u="none" cap="none" strike="noStrike">
                <a:solidFill>
                  <a:srgbClr val="000000"/>
                </a:solidFill>
                <a:latin typeface="Arial"/>
                <a:ea typeface="Arial"/>
                <a:cs typeface="Arial"/>
                <a:sym typeface="Arial"/>
              </a:rPr>
              <a:t>Retrieval-Augmented Generation (RAG)</a:t>
            </a:r>
            <a:r>
              <a:rPr b="0" i="0" lang="en-US" sz="1400" u="none" cap="none" strike="noStrike">
                <a:solidFill>
                  <a:srgbClr val="000000"/>
                </a:solidFill>
                <a:latin typeface="Arial"/>
                <a:ea typeface="Arial"/>
                <a:cs typeface="Arial"/>
                <a:sym typeface="Arial"/>
              </a:rPr>
              <a:t> pipeline to fetch accurate nutritional data from trusted sources such as USDA and WHO datasets. This data is embedded and stored in a vector database, enabling the system to retrieve and summarize food nutrition details (calories, macros, vitamins) using Granite models.</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The system consists of four key agents:</a:t>
            </a:r>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Nutrition Knowledge Agent</a:t>
            </a:r>
            <a:r>
              <a:rPr b="0" i="0" lang="en-US" sz="1400" u="none" cap="none" strike="noStrike">
                <a:solidFill>
                  <a:srgbClr val="000000"/>
                </a:solidFill>
                <a:latin typeface="Arial"/>
                <a:ea typeface="Arial"/>
                <a:cs typeface="Arial"/>
                <a:sym typeface="Arial"/>
              </a:rPr>
              <a:t> retrieves and summarizes nutritional information using RAG. </a:t>
            </a:r>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Diet Recommendation Agent</a:t>
            </a:r>
            <a:r>
              <a:rPr b="0" i="0" lang="en-US" sz="1400" u="none" cap="none" strike="noStrike">
                <a:solidFill>
                  <a:srgbClr val="000000"/>
                </a:solidFill>
                <a:latin typeface="Arial"/>
                <a:ea typeface="Arial"/>
                <a:cs typeface="Arial"/>
                <a:sym typeface="Arial"/>
              </a:rPr>
              <a:t> generates personalized meal plans based on user inputs such as age, health conditions, dietary preferences, and fitness goals. </a:t>
            </a:r>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Health Advisory Agent</a:t>
            </a:r>
            <a:r>
              <a:rPr b="0" i="0" lang="en-US" sz="1400" u="none" cap="none" strike="noStrike">
                <a:solidFill>
                  <a:srgbClr val="000000"/>
                </a:solidFill>
                <a:latin typeface="Arial"/>
                <a:ea typeface="Arial"/>
                <a:cs typeface="Arial"/>
                <a:sym typeface="Arial"/>
              </a:rPr>
              <a:t> provides preventive health suggestions, including disease-specific diets (e.g., diabetes-friendly or heart-healthy plans). </a:t>
            </a:r>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Food Log &amp; Feedback Agent</a:t>
            </a:r>
            <a:r>
              <a:rPr b="0" i="0" lang="en-US" sz="1400" u="none" cap="none" strike="noStrike">
                <a:solidFill>
                  <a:srgbClr val="000000"/>
                </a:solidFill>
                <a:latin typeface="Arial"/>
                <a:ea typeface="Arial"/>
                <a:cs typeface="Arial"/>
                <a:sym typeface="Arial"/>
              </a:rPr>
              <a:t> allows users to log meals via text, voice, or images and delivers instant nutritional analysis with actionable feedback.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The solution includes a </a:t>
            </a:r>
            <a:r>
              <a:rPr b="1" i="0" lang="en-US" sz="1400" u="none" cap="none" strike="noStrike">
                <a:solidFill>
                  <a:srgbClr val="000000"/>
                </a:solidFill>
                <a:latin typeface="Arial"/>
                <a:ea typeface="Arial"/>
                <a:cs typeface="Arial"/>
                <a:sym typeface="Arial"/>
              </a:rPr>
              <a:t>user-friendly dashboard</a:t>
            </a:r>
            <a:r>
              <a:rPr b="0" i="0" lang="en-US" sz="1400" u="none" cap="none" strike="noStrike">
                <a:solidFill>
                  <a:srgbClr val="000000"/>
                </a:solidFill>
                <a:latin typeface="Arial"/>
                <a:ea typeface="Arial"/>
                <a:cs typeface="Arial"/>
                <a:sym typeface="Arial"/>
              </a:rPr>
              <a:t> (built with Streamlit or React) that visualizes daily and weekly nutrient intake, highlights deficiencies, and tracks progress toward health goals.</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Overall, this solution delivers an </a:t>
            </a:r>
            <a:r>
              <a:rPr b="1" i="0" lang="en-US" sz="1400" u="none" cap="none" strike="noStrike">
                <a:solidFill>
                  <a:srgbClr val="000000"/>
                </a:solidFill>
                <a:latin typeface="Arial"/>
                <a:ea typeface="Arial"/>
                <a:cs typeface="Arial"/>
                <a:sym typeface="Arial"/>
              </a:rPr>
              <a:t>end-to-end intelligent nutrition assistant</a:t>
            </a:r>
            <a:r>
              <a:rPr b="0" i="0" lang="en-US" sz="1400" u="none" cap="none" strike="noStrike">
                <a:solidFill>
                  <a:srgbClr val="000000"/>
                </a:solidFill>
                <a:latin typeface="Arial"/>
                <a:ea typeface="Arial"/>
                <a:cs typeface="Arial"/>
                <a:sym typeface="Arial"/>
              </a:rPr>
              <a:t> that promotes healthier lifestyles through personalized insights, real-time feedback, and preventive healthcare recommendations.</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1" name="Google Shape;101;p35"/>
          <p:cNvSpPr txBox="1"/>
          <p:nvPr/>
        </p:nvSpPr>
        <p:spPr>
          <a:xfrm>
            <a:off x="576072" y="704088"/>
            <a:ext cx="721461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Proposed Solution -</a:t>
            </a:r>
            <a:endParaRPr b="1" i="0" sz="2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36"/>
          <p:cNvSpPr txBox="1"/>
          <p:nvPr/>
        </p:nvSpPr>
        <p:spPr>
          <a:xfrm>
            <a:off x="777240" y="484632"/>
            <a:ext cx="712317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Technology Used</a:t>
            </a:r>
            <a:endParaRPr b="1" i="0" sz="2400" u="none" cap="none" strike="noStrike">
              <a:solidFill>
                <a:srgbClr val="000000"/>
              </a:solidFill>
              <a:latin typeface="Arial"/>
              <a:ea typeface="Arial"/>
              <a:cs typeface="Arial"/>
              <a:sym typeface="Arial"/>
            </a:endParaRPr>
          </a:p>
        </p:txBody>
      </p:sp>
      <p:sp>
        <p:nvSpPr>
          <p:cNvPr id="107" name="Google Shape;107;p36"/>
          <p:cNvSpPr txBox="1"/>
          <p:nvPr/>
        </p:nvSpPr>
        <p:spPr>
          <a:xfrm>
            <a:off x="777240" y="1207008"/>
            <a:ext cx="10515600" cy="495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1" i="0" lang="en-US" sz="1800" u="none" cap="none" strike="noStrike">
                <a:solidFill>
                  <a:srgbClr val="000000"/>
                </a:solidFill>
                <a:latin typeface="Arial"/>
                <a:ea typeface="Arial"/>
                <a:cs typeface="Arial"/>
                <a:sym typeface="Arial"/>
              </a:rPr>
              <a:t>IBM Granite model </a:t>
            </a:r>
            <a:r>
              <a:rPr b="0" i="0" lang="en-US" sz="1800" u="none" cap="none" strike="noStrike">
                <a:solidFill>
                  <a:srgbClr val="000000"/>
                </a:solidFill>
                <a:latin typeface="Arial"/>
                <a:ea typeface="Arial"/>
                <a:cs typeface="Arial"/>
                <a:sym typeface="Arial"/>
              </a:rPr>
              <a:t>-  for eg – ibm-granite-3-2-8b – For natural language understanding, reasoning, and personalization</a:t>
            </a:r>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1" i="0" lang="en-US" sz="1800" u="none" cap="none" strike="noStrike">
                <a:solidFill>
                  <a:srgbClr val="000000"/>
                </a:solidFill>
                <a:latin typeface="Arial"/>
                <a:ea typeface="Arial"/>
                <a:cs typeface="Arial"/>
                <a:sym typeface="Arial"/>
              </a:rPr>
              <a:t>IBM Cloud </a:t>
            </a:r>
            <a:r>
              <a:rPr b="0" i="0" lang="en-US" sz="1800" u="none" cap="none" strike="noStrike">
                <a:solidFill>
                  <a:srgbClr val="000000"/>
                </a:solidFill>
                <a:latin typeface="Arial"/>
                <a:ea typeface="Arial"/>
                <a:cs typeface="Arial"/>
                <a:sym typeface="Arial"/>
              </a:rPr>
              <a:t>– It provides the infrastructure to build, deploy, and scale the Nutrition Agent efficiently. IBM Cloud enables a </a:t>
            </a:r>
            <a:r>
              <a:rPr b="1" i="0" lang="en-US" sz="1800" u="none" cap="none" strike="noStrike">
                <a:solidFill>
                  <a:srgbClr val="000000"/>
                </a:solidFill>
                <a:latin typeface="Arial"/>
                <a:ea typeface="Arial"/>
                <a:cs typeface="Arial"/>
                <a:sym typeface="Arial"/>
              </a:rPr>
              <a:t>reliable, secure, and scalable environment</a:t>
            </a:r>
            <a:r>
              <a:rPr b="0" i="0" lang="en-US" sz="1800" u="none" cap="none" strike="noStrike">
                <a:solidFill>
                  <a:srgbClr val="000000"/>
                </a:solidFill>
                <a:latin typeface="Arial"/>
                <a:ea typeface="Arial"/>
                <a:cs typeface="Arial"/>
                <a:sym typeface="Arial"/>
              </a:rPr>
              <a:t> for deploying the Nutrition Agent.</a:t>
            </a:r>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1" i="0" lang="en-US" sz="1800" u="none" cap="none" strike="noStrike">
                <a:solidFill>
                  <a:srgbClr val="000000"/>
                </a:solidFill>
                <a:latin typeface="Arial"/>
                <a:ea typeface="Arial"/>
                <a:cs typeface="Arial"/>
                <a:sym typeface="Arial"/>
              </a:rPr>
              <a:t>RAG– </a:t>
            </a:r>
            <a:r>
              <a:rPr b="0" i="0" lang="en-US" sz="1800" u="none" cap="none" strike="noStrike">
                <a:solidFill>
                  <a:srgbClr val="000000"/>
                </a:solidFill>
                <a:latin typeface="Arial"/>
                <a:ea typeface="Arial"/>
                <a:cs typeface="Arial"/>
                <a:sym typeface="Arial"/>
              </a:rPr>
              <a:t>RAG to </a:t>
            </a:r>
            <a:r>
              <a:rPr b="1" i="0" lang="en-US" sz="1800" u="none" cap="none" strike="noStrike">
                <a:solidFill>
                  <a:srgbClr val="000000"/>
                </a:solidFill>
                <a:latin typeface="Arial"/>
                <a:ea typeface="Arial"/>
                <a:cs typeface="Arial"/>
                <a:sym typeface="Arial"/>
              </a:rPr>
              <a:t>fetch real data first, then generate intelligent answers</a:t>
            </a:r>
            <a:r>
              <a:rPr b="0" i="0" lang="en-US" sz="1800" u="none" cap="none" strike="noStrike">
                <a:solidFill>
                  <a:srgbClr val="000000"/>
                </a:solidFill>
                <a:latin typeface="Arial"/>
                <a:ea typeface="Arial"/>
                <a:cs typeface="Arial"/>
                <a:sym typeface="Arial"/>
              </a:rPr>
              <a:t>, making the Nutrition Agent more trustworthy and effective.</a:t>
            </a:r>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1" i="0" lang="en-US" sz="1800" u="none" cap="none" strike="noStrike">
                <a:solidFill>
                  <a:srgbClr val="000000"/>
                </a:solidFill>
                <a:latin typeface="Arial"/>
                <a:ea typeface="Arial"/>
                <a:cs typeface="Arial"/>
                <a:sym typeface="Arial"/>
              </a:rPr>
              <a:t>IBM Watsonx.ai - </a:t>
            </a:r>
            <a:r>
              <a:rPr b="0" i="0" lang="en-US" sz="1800" u="none" cap="none" strike="noStrike">
                <a:solidFill>
                  <a:srgbClr val="000000"/>
                </a:solidFill>
                <a:latin typeface="Arial"/>
                <a:ea typeface="Arial"/>
                <a:cs typeface="Arial"/>
                <a:sym typeface="Arial"/>
              </a:rPr>
              <a:t>For model deployment, embeddings, and AI governance</a:t>
            </a:r>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1" i="0" lang="en-US" sz="1800" u="none" cap="none" strike="noStrike">
                <a:solidFill>
                  <a:srgbClr val="000000"/>
                </a:solidFill>
                <a:latin typeface="Arial"/>
                <a:ea typeface="Arial"/>
                <a:cs typeface="Arial"/>
                <a:sym typeface="Arial"/>
              </a:rPr>
              <a:t>Vector Database </a:t>
            </a:r>
            <a:r>
              <a:rPr b="0" i="0" lang="en-US" sz="1800" u="none" cap="none" strike="noStrike">
                <a:solidFill>
                  <a:srgbClr val="000000"/>
                </a:solidFill>
                <a:latin typeface="Arial"/>
                <a:ea typeface="Arial"/>
                <a:cs typeface="Arial"/>
                <a:sym typeface="Arial"/>
              </a:rPr>
              <a:t>(FAISS/Chroma) – For RAG-based nutritional data retrieval</a:t>
            </a:r>
            <a:endParaRPr b="0" i="0" sz="18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38"/>
          <p:cNvSpPr/>
          <p:nvPr/>
        </p:nvSpPr>
        <p:spPr>
          <a:xfrm>
            <a:off x="537590" y="323239"/>
            <a:ext cx="5908929" cy="4485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51D3A"/>
              </a:buClr>
              <a:buSzPts val="3500"/>
              <a:buFont typeface="Times New Roman"/>
              <a:buNone/>
            </a:pPr>
            <a:r>
              <a:t/>
            </a:r>
            <a:endParaRPr b="1" i="0" sz="2400" u="none" cap="none" strike="noStrike">
              <a:solidFill>
                <a:srgbClr val="000000"/>
              </a:solidFill>
              <a:latin typeface="Arial"/>
              <a:ea typeface="Arial"/>
              <a:cs typeface="Arial"/>
              <a:sym typeface="Arial"/>
            </a:endParaRPr>
          </a:p>
        </p:txBody>
      </p:sp>
      <p:pic>
        <p:nvPicPr>
          <p:cNvPr id="113" name="Google Shape;113;p38" title="Screenshot 2026-07-11 150431.png"/>
          <p:cNvPicPr preferRelativeResize="0"/>
          <p:nvPr/>
        </p:nvPicPr>
        <p:blipFill rotWithShape="1">
          <a:blip r:embed="rId3">
            <a:alphaModFix/>
          </a:blip>
          <a:srcRect b="1456" l="0" r="0" t="1466"/>
          <a:stretch/>
        </p:blipFill>
        <p:spPr>
          <a:xfrm>
            <a:off x="240124" y="404893"/>
            <a:ext cx="5908927" cy="2836677"/>
          </a:xfrm>
          <a:prstGeom prst="rect">
            <a:avLst/>
          </a:prstGeom>
          <a:noFill/>
          <a:ln>
            <a:noFill/>
          </a:ln>
        </p:spPr>
      </p:pic>
      <p:pic>
        <p:nvPicPr>
          <p:cNvPr id="114" name="Google Shape;114;p38" title="Screenshot 2026-07-11 150528.png"/>
          <p:cNvPicPr preferRelativeResize="0"/>
          <p:nvPr/>
        </p:nvPicPr>
        <p:blipFill>
          <a:blip r:embed="rId4">
            <a:alphaModFix/>
          </a:blip>
          <a:stretch>
            <a:fillRect/>
          </a:stretch>
        </p:blipFill>
        <p:spPr>
          <a:xfrm>
            <a:off x="6286350" y="404895"/>
            <a:ext cx="5572906" cy="2753056"/>
          </a:xfrm>
          <a:prstGeom prst="rect">
            <a:avLst/>
          </a:prstGeom>
          <a:noFill/>
          <a:ln>
            <a:noFill/>
          </a:ln>
        </p:spPr>
      </p:pic>
      <p:pic>
        <p:nvPicPr>
          <p:cNvPr id="115" name="Google Shape;115;p38" title="Screenshot 2026-07-11 150641.png"/>
          <p:cNvPicPr preferRelativeResize="0"/>
          <p:nvPr/>
        </p:nvPicPr>
        <p:blipFill>
          <a:blip r:embed="rId5">
            <a:alphaModFix/>
          </a:blip>
          <a:stretch>
            <a:fillRect/>
          </a:stretch>
        </p:blipFill>
        <p:spPr>
          <a:xfrm>
            <a:off x="240125" y="3507775"/>
            <a:ext cx="5763690" cy="2836675"/>
          </a:xfrm>
          <a:prstGeom prst="rect">
            <a:avLst/>
          </a:prstGeom>
          <a:noFill/>
          <a:ln>
            <a:noFill/>
          </a:ln>
        </p:spPr>
      </p:pic>
      <p:pic>
        <p:nvPicPr>
          <p:cNvPr id="116" name="Google Shape;116;p38" title="Screenshot 2026-07-11 150705.png"/>
          <p:cNvPicPr preferRelativeResize="0"/>
          <p:nvPr/>
        </p:nvPicPr>
        <p:blipFill rotWithShape="1">
          <a:blip r:embed="rId6">
            <a:alphaModFix/>
          </a:blip>
          <a:srcRect b="2950" l="0" r="1429" t="0"/>
          <a:stretch/>
        </p:blipFill>
        <p:spPr>
          <a:xfrm>
            <a:off x="6286350" y="3507775"/>
            <a:ext cx="5681527" cy="275304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pic>
        <p:nvPicPr>
          <p:cNvPr id="121" name="Google Shape;121;p7" title="Screenshot 2026-07-11 150731.png"/>
          <p:cNvPicPr preferRelativeResize="0"/>
          <p:nvPr/>
        </p:nvPicPr>
        <p:blipFill rotWithShape="1">
          <a:blip r:embed="rId3">
            <a:alphaModFix/>
          </a:blip>
          <a:srcRect b="0" l="3934" r="3934" t="0"/>
          <a:stretch/>
        </p:blipFill>
        <p:spPr>
          <a:xfrm>
            <a:off x="372373" y="916829"/>
            <a:ext cx="5321526" cy="2868475"/>
          </a:xfrm>
          <a:prstGeom prst="rect">
            <a:avLst/>
          </a:prstGeom>
          <a:noFill/>
          <a:ln>
            <a:noFill/>
          </a:ln>
        </p:spPr>
      </p:pic>
      <p:pic>
        <p:nvPicPr>
          <p:cNvPr id="122" name="Google Shape;122;p7" title="Screenshot 2026-07-11 144507.png"/>
          <p:cNvPicPr preferRelativeResize="0"/>
          <p:nvPr/>
        </p:nvPicPr>
        <p:blipFill>
          <a:blip r:embed="rId4">
            <a:alphaModFix/>
          </a:blip>
          <a:stretch>
            <a:fillRect/>
          </a:stretch>
        </p:blipFill>
        <p:spPr>
          <a:xfrm>
            <a:off x="6197975" y="1051300"/>
            <a:ext cx="5739326" cy="281732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40"/>
          <p:cNvSpPr txBox="1"/>
          <p:nvPr/>
        </p:nvSpPr>
        <p:spPr>
          <a:xfrm>
            <a:off x="777240" y="484632"/>
            <a:ext cx="712317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Novelty and Uniqueness</a:t>
            </a:r>
            <a:endParaRPr b="1" i="0" sz="2400" u="none" cap="none" strike="noStrike">
              <a:solidFill>
                <a:srgbClr val="000000"/>
              </a:solidFill>
              <a:latin typeface="Arial"/>
              <a:ea typeface="Arial"/>
              <a:cs typeface="Arial"/>
              <a:sym typeface="Arial"/>
            </a:endParaRPr>
          </a:p>
        </p:txBody>
      </p:sp>
      <p:sp>
        <p:nvSpPr>
          <p:cNvPr id="128" name="Google Shape;128;p40"/>
          <p:cNvSpPr txBox="1"/>
          <p:nvPr/>
        </p:nvSpPr>
        <p:spPr>
          <a:xfrm>
            <a:off x="777240" y="1207008"/>
            <a:ext cx="11301984" cy="529375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The proposed Nutrition Agent stands out by combining </a:t>
            </a:r>
            <a:r>
              <a:rPr b="1" i="0" lang="en-US" sz="1800" u="none" cap="none" strike="noStrike">
                <a:solidFill>
                  <a:srgbClr val="000000"/>
                </a:solidFill>
                <a:latin typeface="Arial"/>
                <a:ea typeface="Arial"/>
                <a:cs typeface="Arial"/>
                <a:sym typeface="Arial"/>
              </a:rPr>
              <a:t>Agentic AI, RAG, and personalization</a:t>
            </a:r>
            <a:r>
              <a:rPr b="0" i="0" lang="en-US" sz="1800" u="none" cap="none" strike="noStrike">
                <a:solidFill>
                  <a:srgbClr val="000000"/>
                </a:solidFill>
                <a:latin typeface="Arial"/>
                <a:ea typeface="Arial"/>
                <a:cs typeface="Arial"/>
                <a:sym typeface="Arial"/>
              </a:rPr>
              <a:t> into a single intelligent system.</a:t>
            </a:r>
            <a:endParaRPr/>
          </a:p>
          <a:p>
            <a:pPr indent="0" lvl="0" marL="0" marR="0" rtl="0" algn="l">
              <a:lnSpc>
                <a:spcPct val="100000"/>
              </a:lnSpc>
              <a:spcBef>
                <a:spcPts val="0"/>
              </a:spcBef>
              <a:spcAft>
                <a:spcPts val="0"/>
              </a:spcAft>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800" u="none" cap="none" strike="noStrike">
                <a:solidFill>
                  <a:srgbClr val="000000"/>
                </a:solidFill>
                <a:latin typeface="Arial"/>
                <a:ea typeface="Arial"/>
                <a:cs typeface="Arial"/>
                <a:sym typeface="Arial"/>
              </a:rPr>
              <a:t>Multi-Agent Intelligence</a:t>
            </a:r>
            <a:r>
              <a:rPr b="0" i="0" lang="en-US" sz="1800" u="none" cap="none" strike="noStrike">
                <a:solidFill>
                  <a:srgbClr val="000000"/>
                </a:solidFill>
                <a:latin typeface="Arial"/>
                <a:ea typeface="Arial"/>
                <a:cs typeface="Arial"/>
                <a:sym typeface="Arial"/>
              </a:rPr>
              <a:t> – Instead of a single chatbot, multiple specialized agents collaborate to deliver accurate and context-aware nutrition guidance. </a:t>
            </a:r>
            <a:endParaRPr/>
          </a:p>
          <a:p>
            <a:pPr indent="0" lvl="0" marL="0" marR="0" rtl="0" algn="l">
              <a:lnSpc>
                <a:spcPct val="100000"/>
              </a:lnSpc>
              <a:spcBef>
                <a:spcPts val="0"/>
              </a:spcBef>
              <a:spcAft>
                <a:spcPts val="0"/>
              </a:spcAft>
              <a:buNone/>
            </a:pPr>
            <a:r>
              <a:rPr b="1" i="0" lang="en-US" sz="1800" u="none" cap="none" strike="noStrike">
                <a:solidFill>
                  <a:srgbClr val="000000"/>
                </a:solidFill>
                <a:latin typeface="Arial"/>
                <a:ea typeface="Arial"/>
                <a:cs typeface="Arial"/>
                <a:sym typeface="Arial"/>
              </a:rPr>
              <a:t>RAG-Based Accuracy</a:t>
            </a:r>
            <a:r>
              <a:rPr b="0" i="0" lang="en-US" sz="1800" u="none" cap="none" strike="noStrike">
                <a:solidFill>
                  <a:srgbClr val="000000"/>
                </a:solidFill>
                <a:latin typeface="Arial"/>
                <a:ea typeface="Arial"/>
                <a:cs typeface="Arial"/>
                <a:sym typeface="Arial"/>
              </a:rPr>
              <a:t> – Integrates real-time data retrieval with AI generation, reducing misinformation and ensuring trustworthy recommendations. </a:t>
            </a:r>
            <a:endParaRPr/>
          </a:p>
          <a:p>
            <a:pPr indent="0" lvl="0" marL="0" marR="0" rtl="0" algn="l">
              <a:lnSpc>
                <a:spcPct val="100000"/>
              </a:lnSpc>
              <a:spcBef>
                <a:spcPts val="0"/>
              </a:spcBef>
              <a:spcAft>
                <a:spcPts val="0"/>
              </a:spcAft>
              <a:buNone/>
            </a:pPr>
            <a:r>
              <a:rPr b="1" i="0" lang="en-US" sz="1800" u="none" cap="none" strike="noStrike">
                <a:solidFill>
                  <a:srgbClr val="000000"/>
                </a:solidFill>
                <a:latin typeface="Arial"/>
                <a:ea typeface="Arial"/>
                <a:cs typeface="Arial"/>
                <a:sym typeface="Arial"/>
              </a:rPr>
              <a:t>Hyper-Personalization</a:t>
            </a:r>
            <a:r>
              <a:rPr b="0" i="0" lang="en-US" sz="1800" u="none" cap="none" strike="noStrike">
                <a:solidFill>
                  <a:srgbClr val="000000"/>
                </a:solidFill>
                <a:latin typeface="Arial"/>
                <a:ea typeface="Arial"/>
                <a:cs typeface="Arial"/>
                <a:sym typeface="Arial"/>
              </a:rPr>
              <a:t> – Tailors diet plans based on health conditions, cultural preferences, and fitness goals. </a:t>
            </a:r>
            <a:endParaRPr/>
          </a:p>
          <a:p>
            <a:pPr indent="0" lvl="0" marL="0" marR="0" rtl="0" algn="l">
              <a:lnSpc>
                <a:spcPct val="100000"/>
              </a:lnSpc>
              <a:spcBef>
                <a:spcPts val="0"/>
              </a:spcBef>
              <a:spcAft>
                <a:spcPts val="0"/>
              </a:spcAft>
              <a:buNone/>
            </a:pPr>
            <a:r>
              <a:rPr b="1" i="0" lang="en-US" sz="1800" u="none" cap="none" strike="noStrike">
                <a:solidFill>
                  <a:srgbClr val="000000"/>
                </a:solidFill>
                <a:latin typeface="Arial"/>
                <a:ea typeface="Arial"/>
                <a:cs typeface="Arial"/>
                <a:sym typeface="Arial"/>
              </a:rPr>
              <a:t>Real-Time Feedback Loop</a:t>
            </a:r>
            <a:r>
              <a:rPr b="0" i="0" lang="en-US" sz="1800" u="none" cap="none" strike="noStrike">
                <a:solidFill>
                  <a:srgbClr val="000000"/>
                </a:solidFill>
                <a:latin typeface="Arial"/>
                <a:ea typeface="Arial"/>
                <a:cs typeface="Arial"/>
                <a:sym typeface="Arial"/>
              </a:rPr>
              <a:t> – Continuously adapts recommendations based on daily food logs and user behavior. </a:t>
            </a:r>
            <a:endParaRPr/>
          </a:p>
          <a:p>
            <a:pPr indent="0" lvl="0" marL="0" marR="0" rtl="0" algn="l">
              <a:lnSpc>
                <a:spcPct val="100000"/>
              </a:lnSpc>
              <a:spcBef>
                <a:spcPts val="0"/>
              </a:spcBef>
              <a:spcAft>
                <a:spcPts val="0"/>
              </a:spcAft>
              <a:buNone/>
            </a:pPr>
            <a:r>
              <a:rPr b="1" i="0" lang="en-US" sz="1800" u="none" cap="none" strike="noStrike">
                <a:solidFill>
                  <a:srgbClr val="000000"/>
                </a:solidFill>
                <a:latin typeface="Arial"/>
                <a:ea typeface="Arial"/>
                <a:cs typeface="Arial"/>
                <a:sym typeface="Arial"/>
              </a:rPr>
              <a:t>Multi-Modal Input</a:t>
            </a:r>
            <a:r>
              <a:rPr b="0" i="0" lang="en-US" sz="1800" u="none" cap="none" strike="noStrike">
                <a:solidFill>
                  <a:srgbClr val="000000"/>
                </a:solidFill>
                <a:latin typeface="Arial"/>
                <a:ea typeface="Arial"/>
                <a:cs typeface="Arial"/>
                <a:sym typeface="Arial"/>
              </a:rPr>
              <a:t> – Supports text, voice, and image-based meal tracking for better usability. </a:t>
            </a:r>
            <a:endParaRPr/>
          </a:p>
          <a:p>
            <a:pPr indent="0" lvl="0" marL="0" marR="0" rtl="0" algn="l">
              <a:lnSpc>
                <a:spcPct val="100000"/>
              </a:lnSpc>
              <a:spcBef>
                <a:spcPts val="0"/>
              </a:spcBef>
              <a:spcAft>
                <a:spcPts val="0"/>
              </a:spcAft>
              <a:buNone/>
            </a:pPr>
            <a:r>
              <a:rPr b="1" i="0" lang="en-US" sz="1800" u="none" cap="none" strike="noStrike">
                <a:solidFill>
                  <a:srgbClr val="000000"/>
                </a:solidFill>
                <a:latin typeface="Arial"/>
                <a:ea typeface="Arial"/>
                <a:cs typeface="Arial"/>
                <a:sym typeface="Arial"/>
              </a:rPr>
              <a:t>Preventive Healthcare Focus</a:t>
            </a:r>
            <a:r>
              <a:rPr b="0" i="0" lang="en-US" sz="1800" u="none" cap="none" strike="noStrike">
                <a:solidFill>
                  <a:srgbClr val="000000"/>
                </a:solidFill>
                <a:latin typeface="Arial"/>
                <a:ea typeface="Arial"/>
                <a:cs typeface="Arial"/>
                <a:sym typeface="Arial"/>
              </a:rPr>
              <a:t> – Goes beyond diet planning to provide disease-specific nutrition advice. </a:t>
            </a:r>
            <a:endParaRPr/>
          </a:p>
          <a:p>
            <a:pPr indent="0" lvl="0" marL="0" marR="0" rtl="0" algn="l">
              <a:lnSpc>
                <a:spcPct val="100000"/>
              </a:lnSpc>
              <a:spcBef>
                <a:spcPts val="0"/>
              </a:spcBef>
              <a:spcAft>
                <a:spcPts val="0"/>
              </a:spcAft>
              <a:buNone/>
            </a:pPr>
            <a:r>
              <a:rPr b="1" i="0" lang="en-US" sz="1800" u="none" cap="none" strike="noStrike">
                <a:solidFill>
                  <a:srgbClr val="000000"/>
                </a:solidFill>
                <a:latin typeface="Arial"/>
                <a:ea typeface="Arial"/>
                <a:cs typeface="Arial"/>
                <a:sym typeface="Arial"/>
              </a:rPr>
              <a:t>Scalable &amp; Enterprise-Ready</a:t>
            </a:r>
            <a:r>
              <a:rPr b="0" i="0" lang="en-US" sz="1800" u="none" cap="none" strike="noStrike">
                <a:solidFill>
                  <a:srgbClr val="000000"/>
                </a:solidFill>
                <a:latin typeface="Arial"/>
                <a:ea typeface="Arial"/>
                <a:cs typeface="Arial"/>
                <a:sym typeface="Arial"/>
              </a:rPr>
              <a:t> – Built on </a:t>
            </a:r>
            <a:r>
              <a:rPr b="1" i="0" lang="en-US" sz="1800" u="none" cap="none" strike="noStrike">
                <a:solidFill>
                  <a:srgbClr val="000000"/>
                </a:solidFill>
                <a:latin typeface="Arial"/>
                <a:ea typeface="Arial"/>
                <a:cs typeface="Arial"/>
                <a:sym typeface="Arial"/>
              </a:rPr>
              <a:t>IBM watsonx.ai</a:t>
            </a:r>
            <a:r>
              <a:rPr b="0" i="0" lang="en-US" sz="1800" u="none" cap="none" strike="noStrike">
                <a:solidFill>
                  <a:srgbClr val="000000"/>
                </a:solidFill>
                <a:latin typeface="Arial"/>
                <a:ea typeface="Arial"/>
                <a:cs typeface="Arial"/>
                <a:sym typeface="Arial"/>
              </a:rPr>
              <a:t> with </a:t>
            </a:r>
            <a:r>
              <a:rPr b="1" i="0" lang="en-US" sz="1800" u="none" cap="none" strike="noStrike">
                <a:solidFill>
                  <a:srgbClr val="000000"/>
                </a:solidFill>
                <a:latin typeface="Arial"/>
                <a:ea typeface="Arial"/>
                <a:cs typeface="Arial"/>
                <a:sym typeface="Arial"/>
              </a:rPr>
              <a:t>IBM Granite models</a:t>
            </a:r>
            <a:r>
              <a:rPr b="0" i="0" lang="en-US" sz="1800" u="none" cap="none" strike="noStrike">
                <a:solidFill>
                  <a:srgbClr val="000000"/>
                </a:solidFill>
                <a:latin typeface="Arial"/>
                <a:ea typeface="Arial"/>
                <a:cs typeface="Arial"/>
                <a:sym typeface="Arial"/>
              </a:rPr>
              <a:t>, ensuring reliability and governance. </a:t>
            </a:r>
            <a:endParaRPr/>
          </a:p>
          <a:p>
            <a:pPr indent="0" lvl="0" marL="0" marR="0" rtl="0" algn="l">
              <a:lnSpc>
                <a:spcPct val="100000"/>
              </a:lnSpc>
              <a:spcBef>
                <a:spcPts val="0"/>
              </a:spcBef>
              <a:spcAft>
                <a:spcPts val="0"/>
              </a:spcAft>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This makes the solution a </a:t>
            </a:r>
            <a:r>
              <a:rPr b="1" i="0" lang="en-US" sz="1800" u="none" cap="none" strike="noStrike">
                <a:solidFill>
                  <a:srgbClr val="000000"/>
                </a:solidFill>
                <a:latin typeface="Arial"/>
                <a:ea typeface="Arial"/>
                <a:cs typeface="Arial"/>
                <a:sym typeface="Arial"/>
              </a:rPr>
              <a:t>smart, adaptive, and proactive digital nutritionist</a:t>
            </a:r>
            <a:r>
              <a:rPr b="0" i="0" lang="en-US" sz="1800" u="none" cap="none" strike="noStrike">
                <a:solidFill>
                  <a:srgbClr val="000000"/>
                </a:solidFill>
                <a:latin typeface="Arial"/>
                <a:ea typeface="Arial"/>
                <a:cs typeface="Arial"/>
                <a:sym typeface="Arial"/>
              </a:rPr>
              <a:t>, not just a static diet recommendation tool.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41"/>
          <p:cNvSpPr/>
          <p:nvPr/>
        </p:nvSpPr>
        <p:spPr>
          <a:xfrm>
            <a:off x="1218724" y="420729"/>
            <a:ext cx="6444496" cy="704017"/>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051D3A"/>
              </a:buClr>
              <a:buSzPts val="3500"/>
              <a:buFont typeface="Times New Roman"/>
              <a:buNone/>
            </a:pPr>
            <a:r>
              <a:rPr b="1" i="0" lang="en-US" sz="2400" u="none" cap="none" strike="noStrike">
                <a:solidFill>
                  <a:srgbClr val="000000"/>
                </a:solidFill>
                <a:latin typeface="Arial"/>
                <a:ea typeface="Arial"/>
                <a:cs typeface="Arial"/>
                <a:sym typeface="Arial"/>
              </a:rPr>
              <a:t>Git Hub Link</a:t>
            </a:r>
            <a:endParaRPr b="1" i="0" sz="2400" u="none" cap="none" strike="noStrike">
              <a:solidFill>
                <a:srgbClr val="000000"/>
              </a:solidFill>
              <a:latin typeface="Arial"/>
              <a:ea typeface="Arial"/>
              <a:cs typeface="Arial"/>
              <a:sym typeface="Arial"/>
            </a:endParaRPr>
          </a:p>
        </p:txBody>
      </p:sp>
      <p:sp>
        <p:nvSpPr>
          <p:cNvPr id="134" name="Google Shape;134;p41"/>
          <p:cNvSpPr/>
          <p:nvPr/>
        </p:nvSpPr>
        <p:spPr>
          <a:xfrm>
            <a:off x="1218724" y="1153712"/>
            <a:ext cx="9214580" cy="4277001"/>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sng" cap="none" strike="noStrike">
                <a:solidFill>
                  <a:schemeClr val="hlink"/>
                </a:solidFill>
                <a:latin typeface="Times New Roman"/>
                <a:ea typeface="Times New Roman"/>
                <a:cs typeface="Times New Roman"/>
                <a:sym typeface="Times New Roman"/>
                <a:hlinkClick r:id="rId3"/>
              </a:rPr>
              <a:t>https://github.com/Gayathri011104/AI-powered_nutrition-agent.git</a:t>
            </a:r>
            <a:r>
              <a:rPr b="0" i="0" lang="en-US" sz="1850" u="none" cap="none" strike="noStrike">
                <a:solidFill>
                  <a:srgbClr val="2B3541"/>
                </a:solidFill>
                <a:latin typeface="Times New Roman"/>
                <a:ea typeface="Times New Roman"/>
                <a:cs typeface="Times New Roman"/>
                <a:sym typeface="Times New Roman"/>
              </a:rPr>
              <a:t> </a:t>
            </a:r>
            <a:endParaRPr b="0" i="0" sz="1850" u="none" cap="none" strike="noStrike">
              <a:solidFill>
                <a:srgbClr val="2B3541"/>
              </a:solidFill>
              <a:latin typeface="Times New Roman"/>
              <a:ea typeface="Times New Roman"/>
              <a:cs typeface="Times New Roman"/>
              <a:sym typeface="Times New Roman"/>
            </a:endParaRPr>
          </a:p>
          <a:p>
            <a:pPr indent="0" lvl="0" marL="0" marR="0" rtl="0" algn="l">
              <a:lnSpc>
                <a:spcPct val="162162"/>
              </a:lnSpc>
              <a:spcBef>
                <a:spcPts val="0"/>
              </a:spcBef>
              <a:spcAft>
                <a:spcPts val="0"/>
              </a:spcAft>
              <a:buClr>
                <a:srgbClr val="2B3541"/>
              </a:buClr>
              <a:buSzPts val="1850"/>
              <a:buFont typeface="Times New Roman"/>
              <a:buNone/>
            </a:pPr>
            <a:r>
              <a:t/>
            </a:r>
            <a:endParaRPr sz="1850">
              <a:solidFill>
                <a:srgbClr val="2B3541"/>
              </a:solidFill>
              <a:latin typeface="Times New Roman"/>
              <a:ea typeface="Times New Roman"/>
              <a:cs typeface="Times New Roman"/>
              <a:sym typeface="Times New Roman"/>
            </a:endParaRPr>
          </a:p>
          <a:p>
            <a:pPr indent="0" lvl="0" marL="0" marR="0" rtl="0" algn="l">
              <a:lnSpc>
                <a:spcPct val="162162"/>
              </a:lnSpc>
              <a:spcBef>
                <a:spcPts val="0"/>
              </a:spcBef>
              <a:spcAft>
                <a:spcPts val="0"/>
              </a:spcAft>
              <a:buNone/>
            </a:pPr>
            <a:br>
              <a:rPr b="0" i="0" lang="en-US" sz="1850" u="none" cap="none" strike="noStrike">
                <a:solidFill>
                  <a:srgbClr val="000000"/>
                </a:solidFill>
                <a:latin typeface="Times New Roman"/>
                <a:ea typeface="Times New Roman"/>
                <a:cs typeface="Times New Roman"/>
                <a:sym typeface="Times New Roman"/>
              </a:rPr>
            </a:br>
            <a:endParaRPr b="0" i="0" sz="1850" u="none" cap="none" strike="noStrike">
              <a:solidFill>
                <a:srgbClr val="2B3541"/>
              </a:solidFill>
              <a:latin typeface="Times New Roman"/>
              <a:ea typeface="Times New Roman"/>
              <a:cs typeface="Times New Roman"/>
              <a:sym typeface="Times New Roman"/>
            </a:endParaRPr>
          </a:p>
          <a:p>
            <a:pPr indent="0" lvl="0" marL="0" marR="0" rtl="0" algn="l">
              <a:lnSpc>
                <a:spcPct val="162162"/>
              </a:lnSpc>
              <a:spcBef>
                <a:spcPts val="0"/>
              </a:spcBef>
              <a:spcAft>
                <a:spcPts val="0"/>
              </a:spcAft>
              <a:buClr>
                <a:srgbClr val="2B3541"/>
              </a:buClr>
              <a:buSzPts val="1850"/>
              <a:buFont typeface="Times New Roman"/>
              <a:buNone/>
            </a:pPr>
            <a:r>
              <a:t/>
            </a:r>
            <a:endParaRPr b="0" i="0" sz="1850" u="none" cap="none" strike="noStrike">
              <a:solidFill>
                <a:srgbClr val="000000"/>
              </a:solidFill>
              <a:latin typeface="Times New Roman"/>
              <a:ea typeface="Times New Roman"/>
              <a:cs typeface="Times New Roman"/>
              <a:sym typeface="Times New Roman"/>
            </a:endParaRPr>
          </a:p>
        </p:txBody>
      </p:sp>
      <p:sp>
        <p:nvSpPr>
          <p:cNvPr id="135" name="Google Shape;135;p41"/>
          <p:cNvSpPr/>
          <p:nvPr/>
        </p:nvSpPr>
        <p:spPr>
          <a:xfrm>
            <a:off x="1218724" y="3360216"/>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36" name="Google Shape;136;p41"/>
          <p:cNvSpPr/>
          <p:nvPr/>
        </p:nvSpPr>
        <p:spPr>
          <a:xfrm>
            <a:off x="1218724" y="4395464"/>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37" name="Google Shape;137;p41"/>
          <p:cNvSpPr/>
          <p:nvPr/>
        </p:nvSpPr>
        <p:spPr>
          <a:xfrm>
            <a:off x="1218724" y="5430713"/>
            <a:ext cx="7468553" cy="38302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42"/>
          <p:cNvSpPr/>
          <p:nvPr/>
        </p:nvSpPr>
        <p:spPr>
          <a:xfrm>
            <a:off x="1218724" y="420729"/>
            <a:ext cx="6444496" cy="704017"/>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051D3A"/>
              </a:buClr>
              <a:buSzPts val="3500"/>
              <a:buFont typeface="Times New Roman"/>
              <a:buNone/>
            </a:pPr>
            <a:r>
              <a:rPr b="1" i="0" lang="en-US" sz="2400" u="none" cap="none" strike="noStrike">
                <a:solidFill>
                  <a:srgbClr val="000000"/>
                </a:solidFill>
                <a:latin typeface="Arial"/>
                <a:ea typeface="Arial"/>
                <a:cs typeface="Arial"/>
                <a:sym typeface="Arial"/>
              </a:rPr>
              <a:t>Future Scope </a:t>
            </a:r>
            <a:endParaRPr b="1" i="0" sz="2400" u="none" cap="none" strike="noStrike">
              <a:solidFill>
                <a:srgbClr val="000000"/>
              </a:solidFill>
              <a:latin typeface="Arial"/>
              <a:ea typeface="Arial"/>
              <a:cs typeface="Arial"/>
              <a:sym typeface="Arial"/>
            </a:endParaRPr>
          </a:p>
        </p:txBody>
      </p:sp>
      <p:sp>
        <p:nvSpPr>
          <p:cNvPr id="143" name="Google Shape;143;p42"/>
          <p:cNvSpPr/>
          <p:nvPr/>
        </p:nvSpPr>
        <p:spPr>
          <a:xfrm>
            <a:off x="1218724" y="1221715"/>
            <a:ext cx="9214580" cy="4277001"/>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1" i="0" lang="en-US" sz="1850" u="none" cap="none" strike="noStrike">
                <a:solidFill>
                  <a:srgbClr val="2B3541"/>
                </a:solidFill>
                <a:latin typeface="Times New Roman"/>
                <a:ea typeface="Times New Roman"/>
                <a:cs typeface="Times New Roman"/>
                <a:sym typeface="Times New Roman"/>
              </a:rPr>
              <a:t>1.Integration with Wearables &amp; Health Devices – </a:t>
            </a:r>
            <a:endParaRPr/>
          </a:p>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The system can be integrated with smartwatches and fitness trackers to collect real-time data such as steps, calories burned, heart rate, and sleep patterns. This will enable the Nutrition Agent to provide more accurate and dynamic diet recommendations based on actual user activity and health metrics.</a:t>
            </a:r>
            <a:endParaRPr/>
          </a:p>
          <a:p>
            <a:pPr indent="0" lvl="0" marL="0" marR="0" rtl="0" algn="l">
              <a:lnSpc>
                <a:spcPct val="162162"/>
              </a:lnSpc>
              <a:spcBef>
                <a:spcPts val="0"/>
              </a:spcBef>
              <a:spcAft>
                <a:spcPts val="0"/>
              </a:spcAft>
              <a:buClr>
                <a:srgbClr val="2B3541"/>
              </a:buClr>
              <a:buSzPts val="1850"/>
              <a:buFont typeface="Times New Roman"/>
              <a:buNone/>
            </a:pPr>
            <a:r>
              <a:rPr b="1" i="0" lang="en-US" sz="1850" u="none" cap="none" strike="noStrike">
                <a:solidFill>
                  <a:srgbClr val="2B3541"/>
                </a:solidFill>
                <a:latin typeface="Times New Roman"/>
                <a:ea typeface="Times New Roman"/>
                <a:cs typeface="Times New Roman"/>
                <a:sym typeface="Times New Roman"/>
              </a:rPr>
              <a:t>2.AI-Powered Voice Assistant &amp; Multilingual Support </a:t>
            </a:r>
            <a:r>
              <a:rPr b="0" i="0" lang="en-US" sz="1850" u="none" cap="none" strike="noStrike">
                <a:solidFill>
                  <a:srgbClr val="2B3541"/>
                </a:solidFill>
                <a:latin typeface="Times New Roman"/>
                <a:ea typeface="Times New Roman"/>
                <a:cs typeface="Times New Roman"/>
                <a:sym typeface="Times New Roman"/>
              </a:rPr>
              <a:t>– </a:t>
            </a:r>
            <a:endParaRPr/>
          </a:p>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endParaRPr b="0" i="0" sz="1850" u="none" cap="none" strike="noStrike">
              <a:solidFill>
                <a:srgbClr val="000000"/>
              </a:solidFill>
              <a:latin typeface="Times New Roman"/>
              <a:ea typeface="Times New Roman"/>
              <a:cs typeface="Times New Roman"/>
              <a:sym typeface="Times New Roman"/>
            </a:endParaRPr>
          </a:p>
        </p:txBody>
      </p:sp>
      <p:sp>
        <p:nvSpPr>
          <p:cNvPr id="144" name="Google Shape;144;p42"/>
          <p:cNvSpPr/>
          <p:nvPr/>
        </p:nvSpPr>
        <p:spPr>
          <a:xfrm>
            <a:off x="1218724" y="3360216"/>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45" name="Google Shape;145;p42"/>
          <p:cNvSpPr/>
          <p:nvPr/>
        </p:nvSpPr>
        <p:spPr>
          <a:xfrm>
            <a:off x="1218724" y="4395464"/>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46" name="Google Shape;146;p42"/>
          <p:cNvSpPr/>
          <p:nvPr/>
        </p:nvSpPr>
        <p:spPr>
          <a:xfrm>
            <a:off x="1218724" y="5430713"/>
            <a:ext cx="7468553" cy="38302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43"/>
          <p:cNvSpPr txBox="1"/>
          <p:nvPr/>
        </p:nvSpPr>
        <p:spPr>
          <a:xfrm>
            <a:off x="327949" y="207380"/>
            <a:ext cx="6096000" cy="6771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Certificates Earned:</a:t>
            </a:r>
            <a:endParaRPr/>
          </a:p>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2" name="Google Shape;152;p43"/>
          <p:cNvSpPr txBox="1"/>
          <p:nvPr/>
        </p:nvSpPr>
        <p:spPr>
          <a:xfrm>
            <a:off x="589600" y="690050"/>
            <a:ext cx="63525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a:p>
        </p:txBody>
      </p:sp>
      <p:pic>
        <p:nvPicPr>
          <p:cNvPr id="153" name="Google Shape;153;p43" title="Screenshot 2026-07-11 142514.png"/>
          <p:cNvPicPr preferRelativeResize="0"/>
          <p:nvPr/>
        </p:nvPicPr>
        <p:blipFill rotWithShape="1">
          <a:blip r:embed="rId3">
            <a:alphaModFix/>
          </a:blip>
          <a:srcRect b="1494" l="0" r="0" t="1494"/>
          <a:stretch/>
        </p:blipFill>
        <p:spPr>
          <a:xfrm>
            <a:off x="2366753" y="997842"/>
            <a:ext cx="7075219" cy="530926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pic>
        <p:nvPicPr>
          <p:cNvPr id="158" name="Google Shape;158;p44" title="Screenshot 2026-07-11 142756.png"/>
          <p:cNvPicPr preferRelativeResize="0"/>
          <p:nvPr/>
        </p:nvPicPr>
        <p:blipFill rotWithShape="1">
          <a:blip r:embed="rId3">
            <a:alphaModFix/>
          </a:blip>
          <a:srcRect b="0" l="2281" r="2272" t="0"/>
          <a:stretch/>
        </p:blipFill>
        <p:spPr>
          <a:xfrm>
            <a:off x="2507224" y="1195437"/>
            <a:ext cx="7177553" cy="4658577"/>
          </a:xfrm>
          <a:prstGeom prst="rect">
            <a:avLst/>
          </a:prstGeom>
          <a:noFill/>
          <a:ln>
            <a:noFill/>
          </a:ln>
        </p:spPr>
      </p:pic>
      <p:sp>
        <p:nvSpPr>
          <p:cNvPr id="159" name="Google Shape;159;p44"/>
          <p:cNvSpPr txBox="1"/>
          <p:nvPr/>
        </p:nvSpPr>
        <p:spPr>
          <a:xfrm>
            <a:off x="176696" y="226391"/>
            <a:ext cx="6096000" cy="6771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Certificates Earned:</a:t>
            </a:r>
            <a:r>
              <a:rPr b="0" i="0" lang="en-US" sz="2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id="164" name="Google Shape;164;p20"/>
          <p:cNvPicPr preferRelativeResize="0"/>
          <p:nvPr/>
        </p:nvPicPr>
        <p:blipFill rotWithShape="1">
          <a:blip r:embed="rId3">
            <a:alphaModFix/>
          </a:blip>
          <a:srcRect b="0" l="0" r="0" t="0"/>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2025-07-08T05:06:56Z</dcterms:created>
  <dc:creator>Manda Anirudh</dc:creator>
</cp:coreProperties>
</file>